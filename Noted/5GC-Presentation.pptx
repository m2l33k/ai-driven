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0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503920" y="3291840"/>
            <a:ext cx="3685032" cy="3566160"/>
          </a:xfrm>
          <a:prstGeom prst="rtTriangle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91695" cy="381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F0C0C8"/>
                </a:solidFill>
                <a:latin typeface="Segoe UI"/>
              </a:rPr>
              <a:t>HUAWEI  ·  CORE NETWORK / 5G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Segoe UI"/>
              </a:rPr>
              <a:t>5G Core Network</a:t>
            </a:r>
          </a:p>
          <a:p>
            <a:pPr algn="l">
              <a:spcAft>
                <a:spcPts val="10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Segoe UI"/>
              </a:rPr>
              <a:t>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700" b="0" i="0">
                <a:solidFill>
                  <a:srgbClr val="F3DCE0"/>
                </a:solidFill>
                <a:latin typeface="Segoe UI"/>
              </a:rPr>
              <a:t>A cloud-native microservices platform to operate, secure, and observe a 5G Core —</a:t>
            </a:r>
          </a:p>
          <a:p>
            <a:pPr algn="l">
              <a:spcAft>
                <a:spcPts val="0"/>
              </a:spcAft>
              <a:buNone/>
            </a:pPr>
            <a:r>
              <a:rPr sz="1700" b="0" i="0">
                <a:solidFill>
                  <a:srgbClr val="F3DCE0"/>
                </a:solidFill>
                <a:latin typeface="Segoe UI"/>
              </a:rPr>
              <a:t>built in the context of the Tunisie Telecom (TT) 5G Core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Author: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«Your Name»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      Institution: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«ESPRIT»</a:t>
            </a:r>
          </a:p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Academic supervisor: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«Name»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      Company supervisor: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«Name»</a:t>
            </a:r>
          </a:p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Period: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«start» – «end»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      Stack:  </a:t>
            </a:r>
            <a:r>
              <a:rPr sz="1400" b="0" i="0">
                <a:solidFill>
                  <a:srgbClr val="ECC8CE"/>
                </a:solidFill>
                <a:latin typeface="Segoe UI"/>
              </a:rPr>
              <a:t>Spring Boot 4 · Spring Cloud · Keycloak · Angular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Introduction &amp; Context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1 · Project Overview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2 · Existing System Study &amp; Analysis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3 · Design &amp; Architecture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4 · Implementation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5 · Results &amp; Evaluation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6 · Contributions &amp; Achievements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7 · Future Perspectives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8 · Conclusion</a:t>
            </a:r>
          </a:p>
          <a:p>
            <a:pPr algn="l">
              <a:spcAft>
                <a:spcPts val="1800"/>
              </a:spcAft>
              <a:buNone/>
            </a:pPr>
            <a:r>
              <a:rPr sz="1900" b="1" i="0">
                <a:solidFill>
                  <a:srgbClr val="292929"/>
                </a:solidFill>
                <a:latin typeface="Segoe UI"/>
              </a:rPr>
              <a:t>Appendices — glossary · ports · ADRs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2743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Introduction &amp; Context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Company · department · project context ·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INTRODUCTION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Company Overview — Huawei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Huawei Technologies is one of the world's largest ICT infrastructure and smart-device providers.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In the carrier / telecom-operator business it supplies the full mobile-network stack: radio access (RAN), transport, and the 5G Core (5GC).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A leading contributor to cloud-native 5G Core solutions built on a 3GPP Service-Based Architecture (SBA).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This internship sits on the software side of that domain:</a:t>
            </a:r>
          </a:p>
          <a:p>
            <a:pPr algn="l" lvl="1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Not the radio network — the platform that manages, secures, and observes a 5G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INTRODUCTION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Department &amp; Working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Carried out within the Core Network / 5G Solutions department, alongside network and software engineers responsible for 5GC deployment and management tooling.</a:t>
            </a:r>
          </a:p>
          <a:p>
            <a:pPr algn="l">
              <a:spcAft>
                <a:spcPts val="9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Ways of working: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Agile, iterative delivery with Git-based collaboration (feature branches, conventional commits).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Cloud-native delivery — everything containerised (Docker), deployable to Kubernetes, with a Tilt live-update loop for local development.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Observability-first culture — no service ships without metrics, logs, and traces.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Security as a first-class concern — identity, RBAC, and audit are built in, not bolted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INTRODUCTION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Project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5G Standalone (SA) replaces closed, monolithic core equipment with a Service-Based Architecture of independently deployable, cloud-native Network Functions (NFs).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Running such a core demands an API-first, role-separated, observable management layer — not a console bolted onto proprietary hardware.</a:t>
            </a:r>
          </a:p>
          <a:p>
            <a:pPr algn="l">
              <a:spcAft>
                <a:spcPts val="1100"/>
              </a:spcAft>
              <a:buNone/>
            </a:pPr>
            <a:r>
              <a:rPr sz="1800" b="1" i="0">
                <a:solidFill>
                  <a:srgbClr val="8A0F2A"/>
                </a:solidFill>
                <a:latin typeface="Segoe UI"/>
              </a:rPr>
              <a:t>This project delivers that layer for the Tunisie Telecom 5G Core programme: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A platform through which operators, security analysts, admins, and auditors interact with the core —</a:t>
            </a:r>
          </a:p>
          <a:p>
            <a:pPr algn="l" lvl="1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each constrained to exactly what their role permits.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INTRODUCTION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1">
                <a:solidFill>
                  <a:srgbClr val="8A0F2A"/>
                </a:solidFill>
                <a:latin typeface="Segoe UI"/>
              </a:rPr>
              <a:t>How can a telecom operator securely operate, monitor, and evolve a 5G Core network through a single, cloud-native management platform?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Separate duties by role — operators, analysts, admins, auditors each see/do only what their responsibilities require, enforced consistently everywhere.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Provide real-time visibility — NF health, signalling/roaming security risk, platform KPIs, logs, and traces.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Not reinvent solved problems — reuse a proven identity provider (Keycloak) and the standard observability stack.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600" b="0" i="0">
                <a:solidFill>
                  <a:srgbClr val="292929"/>
                </a:solidFill>
                <a:latin typeface="Segoe UI"/>
              </a:rPr>
              <a:t>Stay extensible and portable — a clean skeleton that grows from placeholders into full NF logic, running identically on a laptop, Compose, or Kubernetes.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Project Overview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5G Core context · objectives · scope ·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1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5G Core Network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6692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3GPP 5G Core = Service-Based Architecture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Each capability is a Network Function (NF) exposing a Service-Based Interface (SBI) over HTTP/2 + JSON.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NFs locate one another through the NRF (NF Repository Function).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The platform mirrors SBA in software: Eureka ≈ NRF, gateway ≈ secured edge, services = NFs.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The console exposes NF-oriented views: status, restart, core config, slices &amp; QoS.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280160"/>
          <a:ext cx="5120639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2352"/>
                <a:gridCol w="359828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NF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Role in the 5G Core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AMF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Access &amp; Mobility Management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SMF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Session Management (PDU sessions)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UPF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User Plane — packet forwarding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AUSF / UDM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Authentication &amp; subscriber data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PCF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Policy &amp; charging control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NRF / NSSF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Discovery &amp; slice selection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1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Deliver a role-based operations console for the 5GC — one tailored view per operator persona.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Enforce centralised, permission-based authentication (OAuth2/OIDC) at the edge and inside every service.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Provide roaming / signalling risk analysis with explainable scoring and commercial + QoS analytics.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Stand up a cloud-native, fully observable foundation (Prometheus, Grafana, Loki, Tempo, OpenTelemetry).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Ship extensible placeholder services with clean skeletons and isolated datastores, ready for real logic.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650" b="0" i="0">
                <a:solidFill>
                  <a:srgbClr val="292929"/>
                </a:solidFill>
                <a:latin typeface="Segoe UI"/>
              </a:rPr>
              <a:t>Make the platform reproducibly deployable — local, Docker Compose, and Kubernetes / Tilt.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1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Project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solidFill>
            <a:srgbClr val="8A0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4864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Platform architecture (discovery, gateway, service template).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IAM (Keycloak) + the auth-service that wraps it.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Full auth lifecycle: login state machine, first-login, OTP reset, custom email verification, user CRUD.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Roaming-analysis service: persistence, risk scoring, analytics.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Four platform placeholders with database-per-service isolation.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Observability stack + gateway metrics endpoint.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Angular 22 console (4 role consoles) + K8s manifests + scripts.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257800" cy="4114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Implementing actual 3GPP NF signalling stacks / data plane — the NF-facing services are management &amp; analytics abstractions, not real AMF/SMF/UPF.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Production hardening (HA Keycloak cluster, secrets manager, external TLS termination) — noted as future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1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Overall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Spring Boot 4 / Spring Cloud microservices behind a single secured gateway; Keycloak for identity; a full observability stack; consumed through an Angular console; orchestrated by Docker Compose / Kubernetes / Tilt.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566160" cy="64008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20824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Angular Console  :4200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role-based SPA (/api proxy)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880360"/>
            <a:ext cx="3566160" cy="64008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935224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API Gateway  :9000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JWT · routing · Swagger ·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2743200" cy="731520"/>
          </a:xfrm>
          <a:prstGeom prst="rect">
            <a:avLst/>
          </a:prstGeom>
          <a:solidFill>
            <a:srgbClr val="8A0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41064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auth-service :9001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Keycloak-backed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886200"/>
            <a:ext cx="3108960" cy="731520"/>
          </a:xfrm>
          <a:prstGeom prst="rect">
            <a:avLst/>
          </a:prstGeom>
          <a:solidFill>
            <a:srgbClr val="8A0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941064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roaming-analysis :9002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MySQL · risk +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886200"/>
            <a:ext cx="4937760" cy="731520"/>
          </a:xfrm>
          <a:prstGeom prst="rect">
            <a:avLst/>
          </a:prstGeom>
          <a:solidFill>
            <a:srgbClr val="8A0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41064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platform placeholders :9003–9006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anomaly · rate-limit · tracing · fault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2743200" cy="6400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46904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Keycloak IAM :8081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+ keycloak-postgres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892040"/>
            <a:ext cx="3108960" cy="6400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94690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Eureka :8761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discovery (≈ NRF)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892040"/>
            <a:ext cx="4937760" cy="6400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946904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Databases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MySQL · per-service Postgres · Redis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9864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Observability</a:t>
            </a:r>
          </a:p>
          <a:p>
            <a:pPr algn="ctr"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Segoe UI"/>
              </a:rPr>
              <a:t>Prometheus · Grafana · Loki · Tempo · Fluent Bit · OpenTelemetry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Existing System Study &amp; Analysis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Baseline · technologies · requirements ·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2 · EXISTING SYSTEM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Current Architecture &amp;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Baseline: traditional core-network operations rely on vendor-specific EMS/NMS tooling with siloed, often manual access, and per-element monitoring. There is no unified, API-first, role-separated management layer with cloud-native observability — the gap this project fills.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286000"/>
          <a:ext cx="11091671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1233"/>
                <a:gridCol w="4822466"/>
                <a:gridCol w="38579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Concern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Adopted in the platform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Core-network model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3GPP 5G SBA mirrored in microservices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Aligns software with the domain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Runtime substrate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Docker Compose + K8s manifests + Tilt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Cloud-native, portable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Keycloak (OAuth2/OIDC)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Don't reinvent IAM (ADR-06)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Service framework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Spring Boot 4 / Spring Cloud 2025.1.1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Mature ecosystem, Java 17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Edge / discovery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Spring Cloud Gateway (WebFlux) + Eureka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Single secured entry + discovery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Observability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Prometheus + Grafana + Loki + Tempo + OTel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De-facto cloud-native stack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Console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Angular 22 (standalone, signals)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Modern, lazy-loaded SPA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Database-per-service (PG / MySQL / Redis)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Isolation, scaling (ADR-09)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2 · EXISTING SYSTEM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Requirements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5778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Functional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FR1 — Authenticate users; full lifecycle (create, verify, first-login change, OTP/admin reset, delete).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FR2 — Enforce four roles with fine-grained PERM_* permissions.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FR3 — Per-role console views (admin / operator / analyst / auditor).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FR4 — Roaming risk scoring (0–100) + analytics (live, anomalies, forecast, QoS, revenue).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FR5 — Platform-wide health + request/JVM KPIs.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Non-functional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NFR1 Security — OAuth2/OIDC, JWT, defence in depth (edge + service), immutable audit logs.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NFR2 Observability — metrics, logs, traces per service; alerting-ready.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NFR3 Scalability &amp; isolation — independent services; database-per-service.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NFR4 Portability — identical local / Compose / Kubernetes.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NFR5 Maintainability — a consistent service template, ADRs, documentation vault.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2 · EXISTING SYSTEM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Role &amp; Permission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0" i="1">
                <a:solidFill>
                  <a:srgbClr val="5A5A5A"/>
                </a:solidFill>
                <a:latin typeface="Segoe UI"/>
              </a:rPr>
              <a:t>Source of truth: keycloak/platform-realm.json  ·  ✅ = granted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00200"/>
          <a:ext cx="1109167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5688"/>
                <a:gridCol w="1696373"/>
                <a:gridCol w="1826863"/>
                <a:gridCol w="1696373"/>
                <a:gridCol w="169637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Permission (PERM_*)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ANALYST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AUDITOR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users:read / write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roles:read / write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platform-config:read / write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nf:read / restart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core-config:read / write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security-alerts:read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roaming-events:read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detection-rules:read / write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✅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 / –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audit:read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audit:delete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granted to nobody — audit logs are immutable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2 · EXISTING SYSTEM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Identified Constraints &amp;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C1 — Don't reimplement IAM; Keycloak stays the source of truth for passwords/sessions/tokens (ADR-06).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C2 — Keycloak start-dev defaults to embedded H2 with no volume → users &amp; realm changes lost on down (ADR-10).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C3 — A public path must be whitelisted at both the gateway and the service, or the gateway 401s first (ADR-07).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C4 — Keycloak returns 'Account is not fully set up' after accepting a valid password → login must read account state (ADR-05).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C5 — Placeholder services must be lean (no premature security/JPA) yet trivially extensible (ADR-08).</a:t>
            </a:r>
          </a:p>
          <a:p>
            <a:pPr algn="l" indent="-182880" marL="182880">
              <a:spcAft>
                <a:spcPts val="12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C6 — Resource pressure: database-per-service means many containers (~256 MB each) on a dev laptop (ADR-09).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Design &amp; Architecture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Proposed architecture · NF mapping · request lifecycle · tech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3 ·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Proposed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API Gateway (WebFlux) — single entry point: validates JWTs, maps authorities, routes /api/** via lb://, aggregates Swagger, whitelists public paths, hosts GET /api/metrics/overview.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Service Discovery (Eureka :8761) — the SBA registry analogue (≈ NRF).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Business services — auth-service (:9001), roaming-analysis-service (:9002).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Platform services — anomaly (:9003), rate-limiting (:9004), tracing (:9005), fault-injection (:9006), each with its own datastore.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Identity — Keycloak (realm auth-management, client platform-client), persisted to a dedicated Postgres.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Observability — Prometheus, Grafana, Loki, Tempo, Fluent Bit, OpenTelemetry.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Console — Angular 22 SPA with four role consoles.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3 ·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5G Core Components → Platform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1671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70177"/>
                <a:gridCol w="6421494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5G Core / 3GPP concept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Platform realisation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NF discovery (NRF)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Eureka service registry (lb://&lt;service-id&gt;)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Service-Based Interfaces (SBI)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REST APIs behind Spring Cloud Gateway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Roaming edge (SEPP-style)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The gateway as the single secured ingress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Subscriber auth trust (AUSF/UDM)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Keycloak OAuth2/OIDC + JWT, Admin API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Roaming / signalling security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roaming-analysis-service (risk + analytics)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NF lifecycle management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Role-based operator console (status/restart)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Network slicing / QoS (NSSF/PCF)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Operator core-config views (S-NSSAI, 5QI)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Abuse protection at the edge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rate-limiting-service (Redis token bucket)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Resilience / chaos testing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fault-injection-service (placeholder)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Anomaly / fraud detection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anomaly-detection-service (placeholder)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3 ·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Interactions Between NFs —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Every request: client → gateway → service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1. Console gets a JWT from auth-service (Keycloak password grant, scope openid profile email roles).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2. Each call carries Bearer &lt;JWT&gt; (attached by the Angular interceptor; skipped for public auth paths).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3. Gateway validates the token vs Keycloak JWKS; maps realm roles → ROLE_*, client perms → PERM_*.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4. Routed via Eureka (lb://roaming-analysis-service…) to the target service.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5. Service re-validates + re-checks with @PreAuthorize('hasAuthority(PERM_…)') — defence in depth (ADR-07).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6. Traces → Tempo (OTLP); metrics scraped by Prometheus; logs shipped via Fluent Bit → Loki.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Auth state machine (ADR-05)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POST /api/auth/login returns a status, not a raw error: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1" i="0">
                <a:solidFill>
                  <a:srgbClr val="2E7D32"/>
                </a:solidFill>
                <a:latin typeface="Segoe UI"/>
              </a:rPr>
              <a:t>SUCCESS → accessToken, refreshToken, expiresIn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1" i="0">
                <a:solidFill>
                  <a:srgbClr val="B76E00"/>
                </a:solidFill>
                <a:latin typeface="Segoe UI"/>
              </a:rPr>
              <a:t>EMAIL_VERIFICATION_REQUIRED → message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1" i="0">
                <a:solidFill>
                  <a:srgbClr val="C7000B"/>
                </a:solidFill>
                <a:latin typeface="Segoe UI"/>
              </a:rPr>
              <a:t>PASSWORD_CHANGE_REQUIRED → message, firstLoginToken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5A5A5A"/>
                </a:solidFill>
                <a:latin typeface="Segoe UI"/>
              </a:rPr>
              <a:t>Keycloak accepts the password then reports 'Account is not fully set up'; auth-service inspects emailVerified + requiredActions via the Admin API and drives the UI.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3 ·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Technology Choices — Architecture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1671" cy="3785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3284"/>
                <a:gridCol w="5131967"/>
                <a:gridCol w="49664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ADR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Rationale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auth-service is a thin layer over Keycloak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Standards-based OIDC; don't reinvent IAM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07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Permission-based RBAC on PERM_* (edge + service)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Roles re-sliceable without code; defence in depth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State-aware login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Interpret Keycloak account state, own the UX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04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Own email-verification flow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Avoid Keycloak themed pages; own the UX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Database-per-service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Isolation &amp; independent ownership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03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In-memory token/OTP stores (for now)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Simplest that works; swap for Redis to scale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Roaming risk = explainable heuristic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Ships now, explainable; ML later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92929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Tempo = trace backend; Jaeger a placeholder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Tempo already wired to Grafana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3 ·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Architecture Diagrams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  <a:buNone/>
            </a:pPr>
            <a:r>
              <a:rPr sz="1650" b="1" i="0">
                <a:solidFill>
                  <a:srgbClr val="8A0F2A"/>
                </a:solidFill>
                <a:latin typeface="Segoe UI"/>
              </a:rPr>
              <a:t>Source-of-truth diagrams (PlantUML) live in Noted/diagram/: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infrastructure.puml — end-to-end deployment topology on the Docker shared-network.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services.puml — service catalogue grouped by tier, with ports + source paths.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Rendered to Noted/Assets/infra 5GC.png and service infra.svg (embedded in the READMEs).</a:t>
            </a:r>
          </a:p>
          <a:p>
            <a:pPr algn="l">
              <a:spcAft>
                <a:spcPts val="1100"/>
              </a:spcAft>
              <a:buNone/>
            </a:pPr>
            <a:r>
              <a:rPr sz="1650" b="1" i="0">
                <a:solidFill>
                  <a:srgbClr val="8A0F2A"/>
                </a:solidFill>
                <a:latin typeface="Segoe UI"/>
              </a:rPr>
              <a:t>Login / RBAC sequence and component diagrams are in Noted/uml/ (with a Mermaid mirror).</a:t>
            </a:r>
          </a:p>
          <a:p>
            <a:pPr algn="l" indent="-182880" marL="182880">
              <a:spcAft>
                <a:spcPts val="1100"/>
              </a:spcAft>
              <a:buClr>
                <a:srgbClr val="C7000B"/>
              </a:buClr>
              <a:buFont typeface="Arial"/>
              <a:buChar char="▪"/>
            </a:pPr>
            <a:r>
              <a:rPr sz="1550" b="0" i="0">
                <a:solidFill>
                  <a:srgbClr val="292929"/>
                </a:solidFill>
                <a:latin typeface="Segoe UI"/>
              </a:rPr>
              <a:t>⚠ These pre-date the four placeholder services — regenerate before the final deck.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Implementation &amp; Development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Deployment · configuration · development ·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4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Environment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Three reproducible deployment modes (see Scripts-and-Tooling):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91671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4524"/>
                <a:gridCol w="3961311"/>
                <a:gridCol w="554583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Commands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runs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Local (JAR)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./infra.sh up  then  ./run.sh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Infra + observability in Docker; eureka + gateway + auth as local JARs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./infra.sh up  then  ./run.sh docker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App services via docker/docker-compose-base.yml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Kubernetes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per-service kubernetes/*.yml ; tilt 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K8s deployments/services with Tilt live-update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29768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run.sh sources the repo-root .env (gitignored) so MAIL_* / KC_SMTP_* reach both local JARs and Compose.</a:t>
            </a:r>
          </a:p>
          <a:p>
            <a:pPr algn="l" indent="-182880" marL="182880">
              <a:spcAft>
                <a:spcPts val="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⚠ Known gap: the local-JAR path, build-images.sh, and the Tiltfile currently launch only eureka + gateway + auth (documented follow-up).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4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Component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Keycloak — realm-as-code platform-realm.json (4 roles, platform-client with full PERM_* set, demo users). Persisted to keycloak-postgres + volume (ADR-10); export-realm &amp; configure-smtp scripts. Caveat: restore ${KC_SMTP_*} placeholders before committing an export.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Gateway — explicit routes per service (default + docker profiles), Swagger aggregation, public-path whitelist, prometheus.base-url for the metrics endpoint.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Per-service application.yml — default (localhost) and docker (container hostnames) profiles; actuator exposes health, info, metrics, prometheus.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Prometheus — scrapes host-run apps via host.docker.internal (gateway/eureka/auth/roaming); Grafana datasources + dashboards provisioned from grafana-dashboard/.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4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Equipment Installation &amp;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A5A5A"/>
                </a:solidFill>
                <a:latin typeface="Segoe UI"/>
              </a:rPr>
              <a:t>The container estate (all on a shared Docker network):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00200"/>
          <a:ext cx="11091671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2778"/>
                <a:gridCol w="873889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Containers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keycloak (:8081→8080) + keycloak-postgres (:5437)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Roaming data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roaming-mysql (:3307, mysql:8.4)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Per-service data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anomaly/ratelimit/tracing/fault-postgres (:5433–5436); anomaly-redis (:6380), ratelimit-redis (:6379)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Observability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prometheus (:9090), grafana (:3000), loki (:3100), tempo (:3200/4317/4318), fluent-bit (:24224)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Application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eureka (:8761), gateway (:9000), auth (:9001), roaming (:9002), + 4 placeholders (:9003–9006)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Integration validated with docker compose … config and end-to-end health checks through the gateway.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4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Development &amp; Automation — Roaming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roaming-analysis-service</a:t>
            </a:r>
          </a:p>
          <a:p>
            <a:pPr algn="l">
              <a:spcAft>
                <a:spcPts val="800"/>
              </a:spcAft>
              <a:buNone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JPA/MySQL persistence (roaming_events), seeded on first start. 11 endpoints under /api/roaming, all requiring PERM_roaming-events:read.</a:t>
            </a:r>
          </a:p>
          <a:p>
            <a:pPr algn="l">
              <a:spcAft>
                <a:spcPts val="400"/>
              </a:spcAft>
              <a:buNone/>
            </a:pPr>
            <a:r>
              <a:rPr sz="1350" b="1" i="0">
                <a:solidFill>
                  <a:srgbClr val="292929"/>
                </a:solidFill>
                <a:latin typeface="Segoe UI"/>
              </a:rPr>
              <a:t>Risk scoring (RiskAnalyzer, ADR-02) — additive, explainable, [0,100]: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baseline 5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+ impossible travel .......... +40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+ signalling errors .......... ×3 (cap 21)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+ new-device ratio ........... ×25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+ known-bad PLMN ............. +20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+ tiny subscriber count (&lt;20)  +8</a:t>
            </a:r>
          </a:p>
          <a:p>
            <a:pPr algn="l">
              <a:spcAft>
                <a:spcPts val="200"/>
              </a:spcAft>
              <a:buNone/>
            </a:pPr>
            <a:r>
              <a:rPr sz="1250" b="0" i="0">
                <a:solidFill>
                  <a:srgbClr val="292929"/>
                </a:solidFill>
                <a:latin typeface="Consolas"/>
              </a:rPr>
              <a:t>→ LOW &lt;30 · MEDIUM &lt;60 · else HIGH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1280160"/>
          <a:ext cx="512064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8400"/>
                <a:gridCol w="2682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/events, /events/{id}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list (filterable) / single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/summary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dashboard aggregates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/partners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per-partner-PLMN roll-up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/live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real-time monitor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/anomalies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flagged events + reasons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/forecast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linear-regression forecast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/experience  /qos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QoS experience &amp; overview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/optimization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margin + agreement rec.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/revenue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92929"/>
                          </a:solidFill>
                          <a:latin typeface="Segoe UI"/>
                        </a:rPr>
                        <a:t>revenue/cost/margin/ARPU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4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Development, Console &amp;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auth-service &amp; gateway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Thin layer over Keycloak (token endpoint + Admin API).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State-aware login, first-login change, OTP self-service reset, custom email verification.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User CRUD (/api/users) guarded by PERM_users:*; created users get temp password + two emails.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Gateway GET /api/metrics/overview runs PromQL for request/JVM KPIs (PERM_platform-config:read).</a:t>
            </a:r>
          </a:p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Angular console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Four role consoles, glassmorphism shell, dependency-free SVG charts.</a:t>
            </a:r>
          </a:p>
          <a:p>
            <a:pPr algn="l" indent="-182880" marL="182880">
              <a:spcAft>
                <a:spcPts val="7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Live: admin Dashboard, Users, Roles matrix, System Health, API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Testing &amp; Validation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Build: mvnw clean package / compile across all modules → success; npm run build → clean.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Compose: docker compose -f … config → valid.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Functional (Swagger/curl): full auth lifecycle, RBAC per role, gateway-routed calls, analytics consistency.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Persistence: Keycloak users + roaming data survive down (only down -v wipes).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Automated unit/integration tests intentionally deferred — documented follow-up.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Results &amp; Evaluation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Scenarios · KPIs · results · before/after ·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5 ·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Test Scenarios &amp;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Test Scenarios</a:t>
            </a:r>
          </a:p>
          <a:p>
            <a:pPr algn="l">
              <a:spcAft>
                <a:spcPts val="9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1. Authentication lifecycle — create → temp-password → verify → first-login change → login; correct status each step.</a:t>
            </a:r>
          </a:p>
          <a:p>
            <a:pPr algn="l">
              <a:spcAft>
                <a:spcPts val="9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2. RBAC enforcement — each role reaches only permitted endpoints; unauthorised → 403; public paths reachable without a token.</a:t>
            </a:r>
          </a:p>
          <a:p>
            <a:pPr algn="l">
              <a:spcAft>
                <a:spcPts val="9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3. Roaming analytics — seeded events scored; /live, /anomalies, /forecast consistent &amp; explainable.</a:t>
            </a:r>
          </a:p>
          <a:p>
            <a:pPr algn="l">
              <a:spcAft>
                <a:spcPts val="9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4. Observability — metrics scraped, dashboards populated, health endpoints green.</a:t>
            </a:r>
          </a:p>
          <a:p>
            <a:pPr algn="l">
              <a:spcAft>
                <a:spcPts val="900"/>
              </a:spcAft>
              <a:buNone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5. Persistence — data survives down; only down -v wipes.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KPIs &amp; Performance Metrics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Total requests, RPS — throughput.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%2xx / %5xx, exception count — reliability.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Requests-by-URI, average duration, slowest endpoints — latency hot-spots.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JVM: CPU, heap, process metrics per service.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Roaming: risk distribution, anomaly counts, forecast trend, QoS score, ARPU.</a:t>
            </a:r>
          </a:p>
          <a:p>
            <a:pPr algn="l" indent="-182880" marL="182880">
              <a:spcAft>
                <a:spcPts val="9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Frontend: ~236 kB initial bundle.</a:t>
            </a:r>
          </a:p>
          <a:p>
            <a:pPr algn="l">
              <a:spcAft>
                <a:spcPts val="0"/>
              </a:spcAft>
              <a:buNone/>
            </a:pPr>
            <a:r>
              <a:rPr sz="1200" b="0" i="1">
                <a:solidFill>
                  <a:srgbClr val="5A5A5A"/>
                </a:solidFill>
                <a:latin typeface="Segoe UI"/>
              </a:rPr>
              <a:t>Fill measured figures at demo time (RPS, p95 latency, dashboard screenshots).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5 ·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Obtained Results &amp; Before /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End-to-end secured platform: console → gateway → services → Keycloak/DBs, fully observable.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350" b="0" i="0">
                <a:solidFill>
                  <a:srgbClr val="292929"/>
                </a:solidFill>
                <a:latin typeface="Segoe UI"/>
              </a:rPr>
              <a:t>Six microservices + discovery + gateway, containerised with K8s manifests; four role consoles with live admin data; roaming risk + 11 analytics endpoints; persistent realm-as-code identity.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514600"/>
          <a:ext cx="11091671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9110"/>
                <a:gridCol w="3646577"/>
                <a:gridCol w="516598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Before (baseline)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After (this project)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Access control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Siloed / manual, per element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Centralised OIDC, PERM_* RBAC, edge + service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Identity persistence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Ephemeral (H2 in-container)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Postgres + volume; realm-as-code export/import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Observability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Ad-hoc, per element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Prometheus + Grafana + Loki + Tempo + OTel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Roaming security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None / manual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Explainable risk scoring + 11 analytics endpoints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Manual, env-specific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One command: local / Compose / K8s / Tilt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Data architecture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Shared / none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Database-per-service isolation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5 ·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Challenges Encountered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167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58221"/>
                <a:gridCol w="5469865"/>
                <a:gridCol w="106358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Challenge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Solution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Ref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Keycloak lost users/realm on restart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Dedicated Postgres + volume + realm export/import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ADR-10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401 on public paths through the gateway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Whitelist at gateway and service; log out stale token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ADR-07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Valid creds → 'Account is not fully set up'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State-aware login inspects account via Admin API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ADR-05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Email login → 'user not found'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Resolve user by username or email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Themed Keycloak verify pages hurt UX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Own 24h-token email-verification flow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ADR-04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Many DB containers strain a dev laptop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Database-per-service + documented collapse fallback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92929"/>
                          </a:solidFill>
                          <a:latin typeface="Segoe UI"/>
                        </a:rPr>
                        <a:t>ADR-09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Contributions &amp; Achievements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Technical · TT project · skills · challenges overcome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6 ·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Technical &amp; TT Project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Technical Contributions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Designed &amp; built a cloud-native 5GC management platform (gateway, discovery, 6 services, IAM, observability) with a reusable service template + ADRs.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Permission-based RBAC end-to-end + a complete auth lifecycle over Keycloak.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Roaming risk-scoring + analytics service (MySQL, 11 endpoints, explainable heuristics).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Database-per-service persistence + Keycloak-as-code with export/import.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Role-based Angular console + gateway metrics-aggregation endpoint.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A detailed documentation vault (memory/ + Noted/).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Contributions to the TT Project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A reusable, secure operations layer for TT's 5G Core, aligned with 3GPP SBA principles.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Roaming / signalling security tooling relevant to TT's international-roaming risk &amp; revenue posture.</a:t>
            </a:r>
          </a:p>
          <a:p>
            <a:pPr algn="l" indent="-182880" marL="182880">
              <a:spcAft>
                <a:spcPts val="13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A deployable, observable foundation (Compose/K8s/Tilt) the TT teams can extend with real NF logic — the four placeholders are shaped for exactly that.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6 ·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Skills Acquired &amp; Challenges Overcome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Skills Acquired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Telecom: 5G Core / 3GPP SBA, NFs, PLMN/roaming, signalling security, QoS, ARPU.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Backend: Spring Boot 4 / Spring Cloud, Gateway (WebFlux), Eureka, JPA.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Security / IAM: OAuth2/OIDC, JWT, Keycloak realms/clients/Admin API, RBAC.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Cloud-native / DevOps: Docker, Compose, Kubernetes, Tilt; Prometheus/Grafana/Loki/Tempo/OTel.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Frontend: Angular 22 (standalone, signals, lazy routing), SVG dataviz.</a:t>
            </a:r>
          </a:p>
          <a:p>
            <a:pPr algn="l" indent="-182880" marL="182880">
              <a:spcAft>
                <a:spcPts val="800"/>
              </a:spcAft>
              <a:buClr>
                <a:srgbClr val="C7000B"/>
              </a:buClr>
              <a:buFont typeface="Arial"/>
              <a:buChar char="▪"/>
            </a:pPr>
            <a:r>
              <a:rPr sz="1300" b="0" i="0">
                <a:solidFill>
                  <a:srgbClr val="292929"/>
                </a:solidFill>
                <a:latin typeface="Segoe UI"/>
              </a:rPr>
              <a:t>Practice: ADRs, documentation-as-artefact, Git collaboration.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8A0F2A"/>
                </a:solidFill>
                <a:latin typeface="Segoe UI"/>
              </a:rPr>
              <a:t>Challenges Overcome</a:t>
            </a:r>
          </a:p>
          <a:p>
            <a:pPr algn="l" indent="-182880" marL="182880">
              <a:spcAft>
                <a:spcPts val="14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Identity persistence across restarts.</a:t>
            </a:r>
          </a:p>
          <a:p>
            <a:pPr algn="l" indent="-182880" marL="182880">
              <a:spcAft>
                <a:spcPts val="14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End-to-end auth consistency (gateway + service).</a:t>
            </a:r>
          </a:p>
          <a:p>
            <a:pPr algn="l" indent="-182880" marL="182880">
              <a:spcAft>
                <a:spcPts val="14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Translating Keycloak's account-state quirks into a clean UX.</a:t>
            </a:r>
          </a:p>
          <a:p>
            <a:pPr algn="l" indent="-182880" marL="182880">
              <a:spcAft>
                <a:spcPts val="1400"/>
              </a:spcAft>
              <a:buClr>
                <a:srgbClr val="C7000B"/>
              </a:buClr>
              <a:buFont typeface="Arial"/>
              <a:buChar char="▪"/>
            </a:pPr>
            <a:r>
              <a:rPr sz="1400" b="0" i="0">
                <a:solidFill>
                  <a:srgbClr val="292929"/>
                </a:solidFill>
                <a:latin typeface="Segoe UI"/>
              </a:rPr>
              <a:t>Orchestrating a multi-service, multi-datastore stack reproducibly on constrained hardware.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Future Perspectives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Improvements · automation · observability · 5GC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7 · FUTURE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8A0F2A"/>
                </a:solidFill>
                <a:latin typeface="Segoe UI"/>
              </a:rPr>
              <a:t>Potential Improvements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Give the 4 placeholders real logic + SecurityConfig; move routes off the public whitelist.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Wire remaining frontend data pages to live APIs (NFs, alerts, roaming, audit, core config).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Add GET /api/roles / per-role counts for a live roles UI.</a:t>
            </a:r>
          </a:p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8A0F2A"/>
                </a:solidFill>
                <a:latin typeface="Segoe UI"/>
              </a:rPr>
              <a:t>Automation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Extend run.sh / build-images.sh / Tiltfile to launch all services.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CI/CD pipeline (build, scan, deploy) + IaC for the DB layer on K8s.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Move in-memory OTP/token stores to Redis (ADR-03).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8A0F2A"/>
                </a:solidFill>
                <a:latin typeface="Segoe UI"/>
              </a:rPr>
              <a:t>Monitoring &amp; Observability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Decide Jaeger vs Tempo (ADR-01); wire the tracing service.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SLO-based alerting + richer Grafana dashboards; propagate trace context across all services.</a:t>
            </a:r>
          </a:p>
          <a:p>
            <a:pPr algn="l">
              <a:spcAft>
                <a:spcPts val="500"/>
              </a:spcAft>
              <a:buNone/>
            </a:pPr>
            <a:r>
              <a:rPr sz="1500" b="1" i="0">
                <a:solidFill>
                  <a:srgbClr val="8A0F2A"/>
                </a:solidFill>
                <a:latin typeface="Segoe UI"/>
              </a:rPr>
              <a:t>Future 5G Core Enhancements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Replace roaming heuristics with ML (anomaly detection, forecasting).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Integrate with real NF telemetry (AMF/SMF/UPF); enforce rate-limiting / fault-injection at the edge.</a:t>
            </a:r>
          </a:p>
          <a:p>
            <a:pPr algn="l" indent="-182880" marL="182880">
              <a:spcAft>
                <a:spcPts val="60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0">
                <a:solidFill>
                  <a:srgbClr val="292929"/>
                </a:solidFill>
                <a:latin typeface="Segoe UI"/>
              </a:rPr>
              <a:t>Multi-tenant / multi-operator support, horizontal scaling, production hardening (HA Keycloak, secrets, TLS).</a:t>
            </a:r>
          </a:p>
          <a:p>
            <a:pPr algn="l" indent="-182880" marL="182880">
              <a:spcAft>
                <a:spcPts val="0"/>
              </a:spcAft>
              <a:buClr>
                <a:srgbClr val="C7000B"/>
              </a:buClr>
              <a:buFont typeface="Arial"/>
              <a:buChar char="▪"/>
            </a:pPr>
            <a:r>
              <a:rPr sz="1250" b="0" i="1">
                <a:solidFill>
                  <a:srgbClr val="5A5A5A"/>
                </a:solidFill>
                <a:latin typeface="Segoe UI"/>
              </a:rPr>
              <a:t>Cross-cutting: introduce unit + integration + contract tests (against api-specs/).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Conclusion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Summary · key results · internship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8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Work Summary &amp; Key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Work Summary</a:t>
            </a:r>
          </a:p>
          <a:p>
            <a:pPr algn="l">
              <a:spcAft>
                <a:spcPts val="0"/>
              </a:spcAft>
              <a:buNone/>
            </a:pPr>
            <a:r>
              <a:rPr sz="1450" b="0" i="0">
                <a:solidFill>
                  <a:srgbClr val="292929"/>
                </a:solidFill>
                <a:latin typeface="Segoe UI"/>
              </a:rPr>
              <a:t>This internship delivered a secure, observable, cloud-native management platform for a 5G Core: a permission-based RBAC gateway fronting six microservices, Keycloak-backed identity with a full authentication lifecycle, a MySQL-persisted roaming risk-and-analytics service, a role-based operator console, and a complete observability stack — reproducibly deployable via Docker Compose, Kubernetes, and Tilt, and documented end-to-end.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1064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Key Results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End-to-end secured platform with four role consoles and live operational dashboards.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Complete authentication lifecycle and persistent, realm-as-code identity.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Roaming risk scoring + 11 analytics endpoints persisted and exposed via API.</a:t>
            </a:r>
          </a:p>
          <a:p>
            <a:pPr algn="l" indent="-182880" marL="182880">
              <a:spcAft>
                <a:spcPts val="1000"/>
              </a:spcAft>
              <a:buClr>
                <a:srgbClr val="C7000B"/>
              </a:buClr>
              <a:buFont typeface="Arial"/>
              <a:buChar char="▪"/>
            </a:pPr>
            <a:r>
              <a:rPr sz="1500" b="0" i="0">
                <a:solidFill>
                  <a:srgbClr val="292929"/>
                </a:solidFill>
                <a:latin typeface="Segoe UI"/>
              </a:rPr>
              <a:t>A containerised, observable, extensible foundation aligned with 3GPP SBA — four placeholder services shaped for real NF logic.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8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Internship Experience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  <a:buNone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Working within Huawei's core-network context on the Tunisie Telecom 5G project bridged telecom domain knowledge with cloud-native software engineering — from 3GPP SBA concepts to hands-on microservices, IAM, and observability.</a:t>
            </a:r>
          </a:p>
          <a:p>
            <a:pPr algn="l">
              <a:spcAft>
                <a:spcPts val="1400"/>
              </a:spcAft>
              <a:buNone/>
            </a:pPr>
            <a:r>
              <a:rPr sz="1700" b="0" i="0">
                <a:solidFill>
                  <a:srgbClr val="292929"/>
                </a:solidFill>
                <a:latin typeface="Segoe UI"/>
              </a:rPr>
              <a:t>Beyond the deliverable, the experience built durable engineering habits: documenting decisions as ADRs, treating observability and security as first-class, and keeping a living knowledge base so the platform can be handed over and grown.</a:t>
            </a:r>
          </a:p>
          <a:p>
            <a:pPr algn="l">
              <a:spcAft>
                <a:spcPts val="0"/>
              </a:spcAft>
              <a:buNone/>
            </a:pPr>
            <a:r>
              <a:rPr sz="1700" b="1" i="0">
                <a:solidFill>
                  <a:srgbClr val="8A0F2A"/>
                </a:solidFill>
                <a:latin typeface="Segoe UI"/>
              </a:rPr>
              <a:t>The result is both a concrete, demonstrable system and a foundation the team can evolve toward full 5G Core management.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11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468880"/>
            <a:ext cx="7040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Appendices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0">
                <a:solidFill>
                  <a:srgbClr val="ECC8CE"/>
                </a:solidFill>
                <a:latin typeface="Segoe UI"/>
              </a:rPr>
              <a:t>Ports &amp; URLs · ADR index ·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46304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Ports &amp; URLs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42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167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36668"/>
                <a:gridCol w="3050209"/>
                <a:gridCol w="360479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Local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Eureka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8761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eureka-server:8761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Gateway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9000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gateway-service:9000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auth-service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9001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auth-service:9001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roaming-analysis-service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9002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roaming-analysis-service:9002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anomaly / rate-limit / tracing / fault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9003 / 9004 / 9005 / 9006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same names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Frontend (Angular dev)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4200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Keycloak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8081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keycloak:8080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keycloak-postgres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5437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keycloak-postgres:5432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roaming MySQL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3307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roaming-mysql:3306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per-service Postgres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5433–5436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*-postgres:5432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Redis (anomaly / ratelimit)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6380 / 6379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*-redis:6379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Prometheus / Grafana / Loki / Tempo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9090 / 3000 / 3100 / 3200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92929"/>
                          </a:solidFill>
                          <a:latin typeface="Segoe UI"/>
                        </a:rPr>
                        <a:t>same names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C7000B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C1C1E"/>
                </a:solidFill>
                <a:latin typeface="Segoe UI"/>
              </a:rPr>
              <a:t>Architecture Decision Records (index)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1091672" cy="25400"/>
          </a:xfrm>
          <a:prstGeom prst="rect">
            <a:avLst/>
          </a:prstGeom>
          <a:solidFill>
            <a:srgbClr val="E5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5A5A5A"/>
                </a:solidFill>
                <a:latin typeface="Segoe UI"/>
              </a:rPr>
              <a:t>5G Core Network Management Platform — Huawei / Tunisie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1" i="0">
                <a:solidFill>
                  <a:srgbClr val="C7000B"/>
                </a:solidFill>
                <a:latin typeface="Segoe UI"/>
              </a:rPr>
              <a:t>43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1671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411"/>
                <a:gridCol w="93852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ADR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marL="73152" marR="54864" marT="18288" marB="18288" anchor="ctr">
                    <a:solidFill>
                      <a:srgbClr val="8A0F2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Tempo is the trace backend; Jaeger is a placeholder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ADR-02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Roaming risk scoring is an explainable heuristic, not ML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In-memory token/OTP stores (swap for Redis to scale)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ADR-04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Our own email-verification flow (not Keycloak's UI)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State-aware login instead of surfacing Keycloak errors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ADR-06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auth-service is a thin layer over Keycloak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Permission-based RBAC, enforced at the edge and in services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ADR-08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Empty placeholder services carry no security/JPA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Database-per-service (dedicated Postgres; Redis where needed)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92929"/>
                          </a:solidFill>
                          <a:latin typeface="Segoe UI"/>
                        </a:rPr>
                        <a:t>ADR-10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92929"/>
                          </a:solidFill>
                          <a:latin typeface="Segoe UI"/>
                        </a:rPr>
                        <a:t>Keycloak persisted to its own Postgres (not H2)</a:t>
                      </a:r>
                    </a:p>
                  </a:txBody>
                  <a:tcPr marL="73152" marR="54864" marT="18288" marB="18288" anchor="ctr">
                    <a:solidFill>
                      <a:srgbClr val="F7E9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 i="1">
                <a:solidFill>
                  <a:srgbClr val="5A5A5A"/>
                </a:solidFill>
                <a:latin typeface="Segoe UI"/>
              </a:rPr>
              <a:t>Full rationale + trade-offs: memory/Architecture-Decisions.md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spcAft>
                <a:spcPts val="0"/>
              </a:spcAft>
              <a:buNone/>
            </a:pPr>
            <a:r>
              <a:rPr sz="2200" b="0" i="0">
                <a:solidFill>
                  <a:srgbClr val="ECC8C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0" i="0">
                <a:solidFill>
                  <a:srgbClr val="F0C0C8"/>
                </a:solidFill>
                <a:latin typeface="Segoe UI"/>
              </a:rPr>
              <a:t>5G Core Network Management Platform  ·  Huawei / Tunisie Telecom  ·  «Your Name», «ESPRIT»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